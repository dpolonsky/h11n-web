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oppi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oppins-regular.fntdata"/><Relationship Id="rId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53844ed04_0_0:notes"/>
          <p:cNvSpPr/>
          <p:nvPr>
            <p:ph idx="2" type="sldImg"/>
          </p:nvPr>
        </p:nvSpPr>
        <p:spPr>
          <a:xfrm>
            <a:off x="398328" y="685487"/>
            <a:ext cx="6061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453844ed04_0_0:notes"/>
          <p:cNvSpPr txBox="1"/>
          <p:nvPr>
            <p:ph idx="1" type="body"/>
          </p:nvPr>
        </p:nvSpPr>
        <p:spPr>
          <a:xfrm>
            <a:off x="399118" y="4343399"/>
            <a:ext cx="6059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You are an analyst working for the company {!$User.CompanyName}. Analyze the following news articles about {!$Input:Account.Name}. Provide a joint summary followed by individual summaries for sales-relevant articles only. Omit articles that are not relevant to sales.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JOINT SUMMARY: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📊 Overall Trends: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🔝 Top 3 Most Important Articles for Sales: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2.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3.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🆚 Competitor Mentions: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💡 Suggested Actions: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2.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🔮 Future Outlook: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〰️〰️〰️〰️〰️〰️〰️〰️〰️〰️〰️〰️〰️〰️〰️〰️〰️〰️〰️〰️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INDIVIDUAL ARTICLE SUMMARIES: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[For each sales-relevant article, use the following format:]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📰 [ARTICLE TITLE]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📅 [PUBLICATION DATE]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🗞️ [SOURCE]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 🔗 [LINK - only add the link, no markdown]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Overall Tone: 😀 Positive | 😐 Neutral | 🙁 Negative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Sales Relevance: 🔥🔥🔥 (High) | 🔥🔥 (Medium) | 🔥 (Low)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Key Points: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#️⃣ Key Terms: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👤 Key Players: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🏷️ Related Products/Services: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〰️〰️〰️〰️〰️〰️〰️〰️〰️〰️〰️〰️〰️〰️〰️〰️〰️〰️〰️〰️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[Repeat the above format for each sales-relevant article]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Articles: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{!$Flow:Account_Get_News_from_Brave_Search_API.Prompt}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PL - Multi Callout - D">
  <p:cSld name="Basic_4_1_1_1_1_1_1_1_1_1_1_3_1_1_1_1_1_1_1_1_1_1_1_1_1_1_1_1_2_1">
    <p:bg>
      <p:bgPr>
        <a:solidFill>
          <a:srgbClr val="CFE9FE">
            <a:alpha val="58859"/>
          </a:srgbClr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 amt="80000"/>
          </a:blip>
          <a:srcRect b="0" l="7275" r="516" t="0"/>
          <a:stretch/>
        </p:blipFill>
        <p:spPr>
          <a:xfrm>
            <a:off x="-10221" y="900112"/>
            <a:ext cx="3055282" cy="159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 amt="80000"/>
          </a:blip>
          <a:srcRect b="0" l="-8907" r="7219" t="0"/>
          <a:stretch/>
        </p:blipFill>
        <p:spPr>
          <a:xfrm flipH="1">
            <a:off x="474123" y="4241310"/>
            <a:ext cx="1937570" cy="918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 amt="80000"/>
          </a:blip>
          <a:srcRect b="0" l="-8907" r="7219" t="0"/>
          <a:stretch/>
        </p:blipFill>
        <p:spPr>
          <a:xfrm>
            <a:off x="6223732" y="3550742"/>
            <a:ext cx="2770585" cy="131320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32169" y="836676"/>
            <a:ext cx="7799700" cy="4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1pPr>
            <a:lvl2pPr lvl="1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2pPr>
            <a:lvl3pPr lvl="2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3pPr>
            <a:lvl4pPr lvl="3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4pPr>
            <a:lvl5pPr lvl="4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5pPr>
            <a:lvl6pPr lvl="5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6pPr>
            <a:lvl7pPr lvl="6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7pPr>
            <a:lvl8pPr lvl="7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8pPr>
            <a:lvl9pPr lvl="8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700"/>
              <a:buNone/>
              <a:defRPr sz="17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432167" y="49650"/>
            <a:ext cx="7800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2" type="subTitle"/>
          </p:nvPr>
        </p:nvSpPr>
        <p:spPr>
          <a:xfrm>
            <a:off x="432167" y="4834781"/>
            <a:ext cx="5439900" cy="16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b="0" sz="800"/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pic>
        <p:nvPicPr>
          <p:cNvPr descr="pasted-image.pdf"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084" y="424095"/>
            <a:ext cx="476676" cy="333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">
            <a:alphaModFix amt="80000"/>
          </a:blip>
          <a:srcRect b="0" l="-8907" r="7219" t="0"/>
          <a:stretch/>
        </p:blipFill>
        <p:spPr>
          <a:xfrm flipH="1">
            <a:off x="4677569" y="1060256"/>
            <a:ext cx="4261328" cy="20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dmin@salestechaiaug24.demo" TargetMode="External"/><Relationship Id="rId4" Type="http://schemas.openxmlformats.org/officeDocument/2006/relationships/hyperlink" Target="https://storm-0a5aa30dcaaf6f.lightning.force.com/lightning/setup/EinsteinPromptStudio/0hfWz000000K5GTIA0/edit?c__versionId=3vNWz0000000V3pMAE" TargetMode="External"/><Relationship Id="rId9" Type="http://schemas.openxmlformats.org/officeDocument/2006/relationships/image" Target="../media/image2.png"/><Relationship Id="rId5" Type="http://schemas.openxmlformats.org/officeDocument/2006/relationships/hyperlink" Target="https://storm-0a5aa30dcaaf6f.lightning.force.com/builder_platform_interaction/flowBuilder.app?flowId=301Wz000008tsw1IAA" TargetMode="External"/><Relationship Id="rId6" Type="http://schemas.openxmlformats.org/officeDocument/2006/relationships/hyperlink" Target="https://storm-0a5aa30dcaaf6f.lightning.force.com/lightning/setup/ExternalServices/home" TargetMode="External"/><Relationship Id="rId7" Type="http://schemas.openxmlformats.org/officeDocument/2006/relationships/hyperlink" Target="https://storm-0a5aa30dcaaf6f.lightning.force.com/lightning/setup/EinsteinCopilotActions/172Wz000001drblIAA/edit" TargetMode="External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4294967295" type="title"/>
          </p:nvPr>
        </p:nvSpPr>
        <p:spPr>
          <a:xfrm>
            <a:off x="185092" y="107004"/>
            <a:ext cx="7573500" cy="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32D60"/>
                </a:solidFill>
              </a:rPr>
              <a:t>Account Research</a:t>
            </a:r>
            <a:endParaRPr>
              <a:solidFill>
                <a:srgbClr val="032D6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Ansprechpartner: Sebastian Ohrmann,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admin@salestechaiaug24.demo</a:t>
            </a:r>
            <a:r>
              <a:rPr lang="en" sz="1200"/>
              <a:t> (salesforce1)</a:t>
            </a:r>
            <a:endParaRPr>
              <a:solidFill>
                <a:srgbClr val="032D60"/>
              </a:solidFill>
            </a:endParaRPr>
          </a:p>
        </p:txBody>
      </p:sp>
      <p:sp>
        <p:nvSpPr>
          <p:cNvPr id="65" name="Google Shape;65;p14"/>
          <p:cNvSpPr txBox="1"/>
          <p:nvPr>
            <p:ph idx="4294967295" type="title"/>
          </p:nvPr>
        </p:nvSpPr>
        <p:spPr>
          <a:xfrm>
            <a:off x="247002" y="1026000"/>
            <a:ext cx="38586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Short Description</a:t>
            </a:r>
            <a:endParaRPr sz="1400"/>
          </a:p>
          <a:p>
            <a:pPr indent="-233680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Salesforce Sans Light"/>
              <a:buChar char="●"/>
            </a:pP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Get data from external data provider Brave to show Sales relevant news articles for selected Account</a:t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  <a:p>
            <a:pPr indent="-233680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Salesforce Sans Light"/>
              <a:buChar char="●"/>
            </a:pP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AI mentions competitors and suggests actions</a:t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</p:txBody>
      </p:sp>
      <p:sp>
        <p:nvSpPr>
          <p:cNvPr id="66" name="Google Shape;66;p14"/>
          <p:cNvSpPr txBox="1"/>
          <p:nvPr>
            <p:ph idx="4294967295" type="title"/>
          </p:nvPr>
        </p:nvSpPr>
        <p:spPr>
          <a:xfrm>
            <a:off x="4656088" y="969300"/>
            <a:ext cx="3858600" cy="10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How to build it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Create </a:t>
            </a:r>
            <a:r>
              <a:rPr lang="en" sz="1200" u="sng">
                <a:solidFill>
                  <a:schemeClr val="hlink"/>
                </a:solidFill>
                <a:latin typeface="Salesforce Sans Light"/>
                <a:ea typeface="Salesforce Sans Light"/>
                <a:cs typeface="Salesforce Sans Light"/>
                <a:sym typeface="Salesforce Sans Light"/>
                <a:hlinkClick r:id="rId4"/>
              </a:rPr>
              <a:t>Prompt</a:t>
            </a: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 (see notes)</a:t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Create </a:t>
            </a:r>
            <a:r>
              <a:rPr lang="en" sz="1200" u="sng">
                <a:solidFill>
                  <a:schemeClr val="hlink"/>
                </a:solidFill>
                <a:latin typeface="Salesforce Sans Light"/>
                <a:ea typeface="Salesforce Sans Light"/>
                <a:cs typeface="Salesforce Sans Light"/>
                <a:sym typeface="Salesforce Sans Light"/>
                <a:hlinkClick r:id="rId5"/>
              </a:rPr>
              <a:t>Flow</a:t>
            </a: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 to retrieve data from provider Brave</a:t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Create</a:t>
            </a:r>
            <a:r>
              <a:rPr lang="en" sz="1200" u="sng">
                <a:solidFill>
                  <a:schemeClr val="hlink"/>
                </a:solidFill>
                <a:latin typeface="Salesforce Sans Light"/>
                <a:ea typeface="Salesforce Sans Light"/>
                <a:cs typeface="Salesforce Sans Light"/>
                <a:sym typeface="Salesforce Sans Light"/>
                <a:hlinkClick r:id="rId6"/>
              </a:rPr>
              <a:t> External Service Provider</a:t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alesforce Sans Light"/>
                <a:ea typeface="Salesforce Sans Light"/>
                <a:cs typeface="Salesforce Sans Light"/>
                <a:sym typeface="Salesforce Sans Light"/>
              </a:rPr>
              <a:t>Create </a:t>
            </a:r>
            <a:r>
              <a:rPr lang="en" sz="1200" u="sng">
                <a:solidFill>
                  <a:schemeClr val="hlink"/>
                </a:solidFill>
                <a:latin typeface="Salesforce Sans Light"/>
                <a:ea typeface="Salesforce Sans Light"/>
                <a:cs typeface="Salesforce Sans Light"/>
                <a:sym typeface="Salesforce Sans Light"/>
                <a:hlinkClick r:id="rId7"/>
              </a:rPr>
              <a:t>Agent Action </a:t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</p:txBody>
      </p:sp>
      <p:sp>
        <p:nvSpPr>
          <p:cNvPr id="67" name="Google Shape;67;p14"/>
          <p:cNvSpPr txBox="1"/>
          <p:nvPr>
            <p:ph idx="4294967295" type="title"/>
          </p:nvPr>
        </p:nvSpPr>
        <p:spPr>
          <a:xfrm>
            <a:off x="247002" y="2331375"/>
            <a:ext cx="3858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Overview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alesforce Sans Light"/>
              <a:ea typeface="Salesforce Sans Light"/>
              <a:cs typeface="Salesforce Sans Light"/>
              <a:sym typeface="Salesforce Sans Light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8963" y="2481225"/>
            <a:ext cx="3052221" cy="3052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3212" y="2639194"/>
            <a:ext cx="3744410" cy="234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43107" y="2127917"/>
            <a:ext cx="2254952" cy="22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85145" y="3099048"/>
            <a:ext cx="7472998" cy="20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